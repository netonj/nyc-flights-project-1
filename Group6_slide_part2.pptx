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70" r:id="rId7"/>
    <p:sldId id="261" r:id="rId8"/>
    <p:sldId id="262" r:id="rId9"/>
    <p:sldId id="263" r:id="rId10"/>
    <p:sldId id="266" r:id="rId11"/>
    <p:sldId id="271" r:id="rId12"/>
    <p:sldId id="268" r:id="rId13"/>
    <p:sldId id="269" r:id="rId14"/>
  </p:sldIdLst>
  <p:sldSz cx="18288000" cy="10287000"/>
  <p:notesSz cx="6858000" cy="9144000"/>
  <p:embeddedFontLst>
    <p:embeddedFont>
      <p:font typeface="Montserrat" pitchFamily="2" charset="77"/>
      <p:regular r:id="rId15"/>
      <p:bold r:id="rId16"/>
      <p:italic r:id="rId17"/>
      <p:boldItalic r:id="rId18"/>
    </p:embeddedFont>
    <p:embeddedFont>
      <p:font typeface="Oswald Medium" pitchFamily="2" charset="77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96" autoAdjust="0"/>
    <p:restoredTop sz="94589" autoAdjust="0"/>
  </p:normalViewPr>
  <p:slideViewPr>
    <p:cSldViewPr>
      <p:cViewPr varScale="1">
        <p:scale>
          <a:sx n="73" d="100"/>
          <a:sy n="73" d="100"/>
        </p:scale>
        <p:origin x="208" y="4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299693" y="4533196"/>
            <a:ext cx="7688610" cy="1057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dirty="0">
                <a:solidFill>
                  <a:srgbClr val="000000"/>
                </a:solidFill>
                <a:latin typeface="Oswald Medium"/>
              </a:rPr>
              <a:t>NYC Flights | Project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89390" y="5590858"/>
            <a:ext cx="4709220" cy="1275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Montserrat"/>
              </a:rPr>
              <a:t>Rashmi Kamath</a:t>
            </a:r>
          </a:p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Montserrat"/>
              </a:rPr>
              <a:t>Hayat Kimo</a:t>
            </a:r>
          </a:p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Montserrat"/>
              </a:rPr>
              <a:t>Jack Neton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32073" y="676066"/>
            <a:ext cx="2506349" cy="411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Oswald Medium"/>
              </a:rPr>
              <a:t>DATA 5300 | 25FQ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402718">
            <a:off x="-530090" y="530943"/>
            <a:ext cx="1608968" cy="547514"/>
          </a:xfrm>
          <a:custGeom>
            <a:avLst/>
            <a:gdLst/>
            <a:ahLst/>
            <a:cxnLst/>
            <a:rect l="l" t="t" r="r" b="b"/>
            <a:pathLst>
              <a:path w="1608968" h="547514">
                <a:moveTo>
                  <a:pt x="0" y="0"/>
                </a:moveTo>
                <a:lnTo>
                  <a:pt x="1608967" y="0"/>
                </a:lnTo>
                <a:lnTo>
                  <a:pt x="1608967" y="547514"/>
                </a:lnTo>
                <a:lnTo>
                  <a:pt x="0" y="547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455" r="-114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36432" y="214468"/>
            <a:ext cx="4105911" cy="951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12"/>
              </a:lnSpc>
            </a:pPr>
            <a:r>
              <a:rPr lang="en-US" sz="5580" dirty="0">
                <a:solidFill>
                  <a:srgbClr val="000000"/>
                </a:solidFill>
                <a:latin typeface="Oswald Medium"/>
              </a:rPr>
              <a:t>Agenda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28800" y="3248721"/>
            <a:ext cx="11734800" cy="4618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Introduction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Data methodology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Gain for late flights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Most common destination airports &amp; their gain distribution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Gain per hour (late flights &amp; flight length)</a:t>
            </a:r>
          </a:p>
          <a:p>
            <a:pPr marL="571500" indent="-571500">
              <a:lnSpc>
                <a:spcPts val="518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</a:rPr>
              <a:t>Discussion</a:t>
            </a:r>
          </a:p>
          <a:p>
            <a:pPr>
              <a:lnSpc>
                <a:spcPts val="5180"/>
              </a:lnSpc>
            </a:pPr>
            <a:endParaRPr lang="en-US" sz="3700" dirty="0">
              <a:solidFill>
                <a:srgbClr val="000000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07112-90D3-5089-91A9-4FE2859A3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E577D8-4E0F-4564-6B1C-D6E2926632CF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A0E1B8F-E052-08A0-90BF-ABF2A0D18995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2D8DE2C-7729-BED2-670A-90AB135735ED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3369C40-F3AF-CD0D-A47B-4EF2A7EE2232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CD5E3C1-4D78-A5E3-BE83-7A6F1F1C35D3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07A1285-10CA-854C-5E83-7D7D235C535B}"/>
              </a:ext>
            </a:extLst>
          </p:cNvPr>
          <p:cNvSpPr txBox="1"/>
          <p:nvPr/>
        </p:nvSpPr>
        <p:spPr>
          <a:xfrm>
            <a:off x="2514600" y="2439786"/>
            <a:ext cx="1196340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Analyze factors contributing to differences in gain for United Airlines flights leaving NYC </a:t>
            </a:r>
          </a:p>
          <a:p>
            <a:pPr algn="just"/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Examine how gain differs by flight punctuality, destination airport.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Examine how gain per hour behaves compared to gain.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Aim to improve operational efficiency and passenger experience through data-driven insights.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33BBCD5-B39F-8F02-B806-FF1D38B48B34}"/>
              </a:ext>
            </a:extLst>
          </p:cNvPr>
          <p:cNvSpPr txBox="1"/>
          <p:nvPr/>
        </p:nvSpPr>
        <p:spPr>
          <a:xfrm>
            <a:off x="1932073" y="676066"/>
            <a:ext cx="2258927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22746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649DC-70F3-67F5-4CA8-8348703B5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17727E8-259B-ACBE-B78D-BBFF31DBCB65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B016CE3-5FB8-EB06-53A1-AA4DF899BB92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3A3822F-7D10-7DE4-8C6B-0D1AFF851FD5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DC9CE42-FDEA-45A8-E437-1041B6354789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49CC3DD-2F38-56B1-9AEC-C2D26C9CDE40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C6D56FA-452B-DBFE-F155-81BDF1324E3D}"/>
              </a:ext>
            </a:extLst>
          </p:cNvPr>
          <p:cNvSpPr txBox="1"/>
          <p:nvPr/>
        </p:nvSpPr>
        <p:spPr>
          <a:xfrm>
            <a:off x="1932073" y="3374867"/>
            <a:ext cx="12622127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Data was sourced from nycflights13 that contains flight and weather tables for NYC airports in 2013.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The two datasets were merged using common keys — </a:t>
            </a:r>
            <a:r>
              <a:rPr lang="en-US" sz="3600" i="1" dirty="0"/>
              <a:t>year, month, day, hour,</a:t>
            </a:r>
            <a:r>
              <a:rPr lang="en-US" sz="3600" dirty="0"/>
              <a:t> and </a:t>
            </a:r>
            <a:r>
              <a:rPr lang="en-US" sz="3600" i="1" dirty="0"/>
              <a:t>origin</a:t>
            </a:r>
            <a:r>
              <a:rPr lang="en-US" sz="3600" dirty="0"/>
              <a:t>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Focused on United Airlines flights; created variables late (&gt;0 min delay) and very late (&gt;30 min delay), excluding missing values.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DD7C654-FA5C-6011-20D9-B7D8D5698424}"/>
              </a:ext>
            </a:extLst>
          </p:cNvPr>
          <p:cNvSpPr txBox="1"/>
          <p:nvPr/>
        </p:nvSpPr>
        <p:spPr>
          <a:xfrm>
            <a:off x="1752600" y="433019"/>
            <a:ext cx="250634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Data</a:t>
            </a:r>
            <a:r>
              <a:rPr lang="en-US" sz="2800" dirty="0">
                <a:solidFill>
                  <a:srgbClr val="FFFFFF"/>
                </a:solidFill>
                <a:latin typeface="Oswald Medium"/>
              </a:rPr>
              <a:t> </a:t>
            </a:r>
            <a:r>
              <a:rPr lang="en-US" sz="3600" dirty="0">
                <a:solidFill>
                  <a:srgbClr val="FFFFFF"/>
                </a:solidFill>
                <a:latin typeface="Oswald Medium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69023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7836A-FA0B-7F35-6085-88BA71D46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5AF1CF-2012-D951-43B1-8236B4BD0264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91B5D63-EEAA-7E00-FCD0-6C71A959DA21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CCCB65D-C8E3-1AE5-F922-8DAA7525F086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93819B0-8FEF-DED5-36B1-C5D3802BFA43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0C97F3-38AD-BB06-2C91-A92B004F8BB9}"/>
              </a:ext>
            </a:extLst>
          </p:cNvPr>
          <p:cNvSpPr/>
          <p:nvPr/>
        </p:nvSpPr>
        <p:spPr>
          <a:xfrm>
            <a:off x="-5751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4AD0FB9-C6DF-2778-987F-3B1D14EF543A}"/>
              </a:ext>
            </a:extLst>
          </p:cNvPr>
          <p:cNvSpPr txBox="1"/>
          <p:nvPr/>
        </p:nvSpPr>
        <p:spPr>
          <a:xfrm>
            <a:off x="1932073" y="676066"/>
            <a:ext cx="250634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Gain for late flights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10FC1-D612-187F-1EB4-27B859588B95}"/>
              </a:ext>
            </a:extLst>
          </p:cNvPr>
          <p:cNvSpPr txBox="1"/>
          <p:nvPr/>
        </p:nvSpPr>
        <p:spPr>
          <a:xfrm>
            <a:off x="8763000" y="2661608"/>
            <a:ext cx="9220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501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49289-C3FD-8892-1747-32608861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80BCDF1-1638-A6C6-B6E4-09638B365B9C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9097809-9CA6-16C8-83ED-12DF38B08840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5E4E586-7106-3289-06DE-591DD3CC73CC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BACFB44-C13F-0E61-0791-7A9FA0003B6D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579F774-F504-9B0C-39CC-712F43DBF689}"/>
              </a:ext>
            </a:extLst>
          </p:cNvPr>
          <p:cNvSpPr/>
          <p:nvPr/>
        </p:nvSpPr>
        <p:spPr>
          <a:xfrm>
            <a:off x="-1438" y="-10783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9AE72C6-7637-ACC1-82A4-2C84D084FF10}"/>
              </a:ext>
            </a:extLst>
          </p:cNvPr>
          <p:cNvSpPr txBox="1"/>
          <p:nvPr/>
        </p:nvSpPr>
        <p:spPr>
          <a:xfrm>
            <a:off x="1949658" y="553453"/>
            <a:ext cx="250634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Gain by airport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9AFB46-2814-CD08-D438-04029DBA2DE6}"/>
              </a:ext>
            </a:extLst>
          </p:cNvPr>
          <p:cNvSpPr txBox="1"/>
          <p:nvPr/>
        </p:nvSpPr>
        <p:spPr>
          <a:xfrm>
            <a:off x="9143998" y="4020115"/>
            <a:ext cx="84582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Top 5 destinations: DEN, IAH, LAX, ORD, and SFO.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Centered around zero.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/>
              <a:t>Average gain is negative; flight time is not made up in the air.</a:t>
            </a:r>
          </a:p>
          <a:p>
            <a:endParaRPr lang="en-US" sz="2800" dirty="0"/>
          </a:p>
        </p:txBody>
      </p:sp>
      <p:pic>
        <p:nvPicPr>
          <p:cNvPr id="11" name="Picture 10" descr="A graph of a number of blue lines&#10;&#10;AI-generated content may be incorrect.">
            <a:extLst>
              <a:ext uri="{FF2B5EF4-FFF2-40B4-BE49-F238E27FC236}">
                <a16:creationId xmlns:a16="http://schemas.microsoft.com/office/drawing/2014/main" id="{E4C083FD-2276-F558-D8A5-9CBD57398F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006579"/>
            <a:ext cx="6905442" cy="690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921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6371-5219-07DA-D47D-63A04A6DF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2DD45BE-B01C-2D20-DA42-8F0F6737F97C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3D0AEA-A717-2BC3-3F77-3CE1B0B5C18A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8E9A386-74F2-D8A2-3780-B80551630246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8EDAA924-2206-A3D3-928B-600E89403625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A3CF1A2-F897-B6B6-EC71-BF8BBE5BBCAE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C131F37-9C24-3934-F770-8010F64910CD}"/>
              </a:ext>
            </a:extLst>
          </p:cNvPr>
          <p:cNvSpPr txBox="1"/>
          <p:nvPr/>
        </p:nvSpPr>
        <p:spPr>
          <a:xfrm>
            <a:off x="1932073" y="447125"/>
            <a:ext cx="2506349" cy="8694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800" dirty="0">
                <a:solidFill>
                  <a:srgbClr val="FFFFFF"/>
                </a:solidFill>
                <a:latin typeface="Oswald Medium"/>
              </a:rPr>
              <a:t>Gain relative to flight delay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1E5A6C-A70C-5167-3508-D8714DCC8AE6}"/>
              </a:ext>
            </a:extLst>
          </p:cNvPr>
          <p:cNvSpPr txBox="1"/>
          <p:nvPr/>
        </p:nvSpPr>
        <p:spPr>
          <a:xfrm>
            <a:off x="7900358" y="2247900"/>
            <a:ext cx="9549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372230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9743E-CBBE-5952-F7B5-3C4AECA78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D1158EF-C0D6-18EA-1DE5-35FFA7FDDBDC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47F0227-5B17-417A-2B83-792FD85174BE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4857BE2-B268-3719-23D7-2623E17F2D5B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6BECEF47-5F29-15B2-2B5A-558DB4263FEF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26E2F32-6FC3-9A11-3F60-A6247F3079B6}"/>
              </a:ext>
            </a:extLst>
          </p:cNvPr>
          <p:cNvSpPr/>
          <p:nvPr/>
        </p:nvSpPr>
        <p:spPr>
          <a:xfrm>
            <a:off x="0" y="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D08728C-FC69-C6BF-0B6D-CEE851DCC4C6}"/>
              </a:ext>
            </a:extLst>
          </p:cNvPr>
          <p:cNvSpPr txBox="1"/>
          <p:nvPr/>
        </p:nvSpPr>
        <p:spPr>
          <a:xfrm>
            <a:off x="1932073" y="447125"/>
            <a:ext cx="2506349" cy="8694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800" dirty="0">
                <a:solidFill>
                  <a:srgbClr val="FFFFFF"/>
                </a:solidFill>
                <a:latin typeface="Oswald Medium"/>
              </a:rPr>
              <a:t>Gain relative to flight duration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ECD98F-F092-38AF-6E50-6D69B018A8C0}"/>
              </a:ext>
            </a:extLst>
          </p:cNvPr>
          <p:cNvSpPr txBox="1"/>
          <p:nvPr/>
        </p:nvSpPr>
        <p:spPr>
          <a:xfrm>
            <a:off x="7900358" y="2247900"/>
            <a:ext cx="9549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190049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11B95-E2EF-A622-EA6B-7482352BF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25EE21-008F-7366-618A-D21B8C574E19}"/>
              </a:ext>
            </a:extLst>
          </p:cNvPr>
          <p:cNvGrpSpPr/>
          <p:nvPr/>
        </p:nvGrpSpPr>
        <p:grpSpPr>
          <a:xfrm>
            <a:off x="0" y="9200437"/>
            <a:ext cx="18288000" cy="1086563"/>
            <a:chOff x="0" y="0"/>
            <a:chExt cx="4816593" cy="28617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199523A-AC6A-9D48-59C8-FC82E0FB7005}"/>
                </a:ext>
              </a:extLst>
            </p:cNvPr>
            <p:cNvSpPr/>
            <p:nvPr/>
          </p:nvSpPr>
          <p:spPr>
            <a:xfrm>
              <a:off x="0" y="0"/>
              <a:ext cx="4816592" cy="286173"/>
            </a:xfrm>
            <a:custGeom>
              <a:avLst/>
              <a:gdLst/>
              <a:ahLst/>
              <a:cxnLst/>
              <a:rect l="l" t="t" r="r" b="b"/>
              <a:pathLst>
                <a:path w="4816592" h="286173">
                  <a:moveTo>
                    <a:pt x="0" y="0"/>
                  </a:moveTo>
                  <a:lnTo>
                    <a:pt x="4816592" y="0"/>
                  </a:lnTo>
                  <a:lnTo>
                    <a:pt x="4816592" y="286173"/>
                  </a:lnTo>
                  <a:lnTo>
                    <a:pt x="0" y="2861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A787ADB-4657-B4FE-728A-84FEED1261DB}"/>
                </a:ext>
              </a:extLst>
            </p:cNvPr>
            <p:cNvSpPr txBox="1"/>
            <p:nvPr/>
          </p:nvSpPr>
          <p:spPr>
            <a:xfrm>
              <a:off x="0" y="-38100"/>
              <a:ext cx="4816593" cy="324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BF1FC34-B0A1-554A-ED5C-C84623244F42}"/>
              </a:ext>
            </a:extLst>
          </p:cNvPr>
          <p:cNvSpPr/>
          <p:nvPr/>
        </p:nvSpPr>
        <p:spPr>
          <a:xfrm>
            <a:off x="5817702" y="9522109"/>
            <a:ext cx="6652596" cy="443220"/>
          </a:xfrm>
          <a:custGeom>
            <a:avLst/>
            <a:gdLst/>
            <a:ahLst/>
            <a:cxnLst/>
            <a:rect l="l" t="t" r="r" b="b"/>
            <a:pathLst>
              <a:path w="6652596" h="443220">
                <a:moveTo>
                  <a:pt x="0" y="0"/>
                </a:moveTo>
                <a:lnTo>
                  <a:pt x="6652596" y="0"/>
                </a:lnTo>
                <a:lnTo>
                  <a:pt x="6652596" y="443219"/>
                </a:lnTo>
                <a:lnTo>
                  <a:pt x="0" y="443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75CBD91-11EF-E671-AA6B-339E53AC1F56}"/>
              </a:ext>
            </a:extLst>
          </p:cNvPr>
          <p:cNvSpPr/>
          <p:nvPr/>
        </p:nvSpPr>
        <p:spPr>
          <a:xfrm>
            <a:off x="0" y="4520"/>
            <a:ext cx="6370496" cy="1763720"/>
          </a:xfrm>
          <a:custGeom>
            <a:avLst/>
            <a:gdLst/>
            <a:ahLst/>
            <a:cxnLst/>
            <a:rect l="l" t="t" r="r" b="b"/>
            <a:pathLst>
              <a:path w="6370496" h="1763720">
                <a:moveTo>
                  <a:pt x="0" y="0"/>
                </a:moveTo>
                <a:lnTo>
                  <a:pt x="6370496" y="0"/>
                </a:lnTo>
                <a:lnTo>
                  <a:pt x="6370496" y="1763720"/>
                </a:lnTo>
                <a:lnTo>
                  <a:pt x="0" y="1763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3ABFA74-AB70-4311-9B06-30BAA85151F4}"/>
              </a:ext>
            </a:extLst>
          </p:cNvPr>
          <p:cNvSpPr txBox="1"/>
          <p:nvPr/>
        </p:nvSpPr>
        <p:spPr>
          <a:xfrm>
            <a:off x="1932073" y="676066"/>
            <a:ext cx="2506349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600" dirty="0">
                <a:solidFill>
                  <a:srgbClr val="FFFFFF"/>
                </a:solidFill>
                <a:latin typeface="Oswald Medium"/>
              </a:rPr>
              <a:t>Discussion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5F6D11-9CAB-327B-9DB8-6E88BF4381AB}"/>
              </a:ext>
            </a:extLst>
          </p:cNvPr>
          <p:cNvSpPr txBox="1"/>
          <p:nvPr/>
        </p:nvSpPr>
        <p:spPr>
          <a:xfrm>
            <a:off x="1600200" y="1768240"/>
            <a:ext cx="1287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133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82CF-34F6-C0A5-8A9A-04A1C2B05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0" y="3799397"/>
            <a:ext cx="7772400" cy="1362075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10693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5351b3-9d83-48b3-ac22-e3c9aaa21acc" xsi:nil="true"/>
    <lcf76f155ced4ddcb4097134ff3c332f xmlns="90bfa618-64d6-4f98-860f-1bba87795c0a">
      <Terms xmlns="http://schemas.microsoft.com/office/infopath/2007/PartnerControls"/>
    </lcf76f155ced4ddcb4097134ff3c332f>
    <Thumbnail xmlns="90bfa618-64d6-4f98-860f-1bba87795c0a" xsi:nil="true"/>
    <PLEASEDOWNLOADANDSAVEBEFOREUSE xmlns="90bfa618-64d6-4f98-860f-1bba87795c0a" xsi:nil="true"/>
    <Dateandtime xmlns="90bfa618-64d6-4f98-860f-1bba87795c0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C71AAF82D974DA0302843D413C0DC" ma:contentTypeVersion="17" ma:contentTypeDescription="Create a new document." ma:contentTypeScope="" ma:versionID="347cad82de7c514b6601bfa2a37a78a6">
  <xsd:schema xmlns:xsd="http://www.w3.org/2001/XMLSchema" xmlns:xs="http://www.w3.org/2001/XMLSchema" xmlns:p="http://schemas.microsoft.com/office/2006/metadata/properties" xmlns:ns2="90bfa618-64d6-4f98-860f-1bba87795c0a" xmlns:ns3="915351b3-9d83-48b3-ac22-e3c9aaa21acc" targetNamespace="http://schemas.microsoft.com/office/2006/metadata/properties" ma:root="true" ma:fieldsID="aac7e9cee1fa94fd2b28b4f9c7177d59" ns2:_="" ns3:_="">
    <xsd:import namespace="90bfa618-64d6-4f98-860f-1bba87795c0a"/>
    <xsd:import namespace="915351b3-9d83-48b3-ac22-e3c9aaa21a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Thumbnail" minOccurs="0"/>
                <xsd:element ref="ns2:MediaLengthInSeconds" minOccurs="0"/>
                <xsd:element ref="ns2:PLEASEDOWNLOADANDSAVEBEFOREUSE" minOccurs="0"/>
                <xsd:element ref="ns2:Dateand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bfa618-64d6-4f98-860f-1bba87795c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6cb9138-4e5c-4f96-9d77-c435c3151f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Thumbnail" ma:index="21" nillable="true" ma:displayName="Thumbnail" ma:format="Thumbnail" ma:internalName="Thumbnail">
      <xsd:simpleType>
        <xsd:restriction base="dms:Unknown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PLEASEDOWNLOADANDSAVEBEFOREUSE" ma:index="23" nillable="true" ma:displayName="DOWNLOAD FILE BEFORE USE" ma:format="Dropdown" ma:internalName="PLEASEDOWNLOADANDSAVEBEFOREUSE">
      <xsd:simpleType>
        <xsd:restriction base="dms:Text">
          <xsd:maxLength value="255"/>
        </xsd:restriction>
      </xsd:simpleType>
    </xsd:element>
    <xsd:element name="Dateandtime" ma:index="24" nillable="true" ma:displayName="Date and time" ma:format="DateTime" ma:internalName="Dateandtim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351b3-9d83-48b3-ac22-e3c9aaa21ac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687a5966-f4e5-4a9a-aa9a-843f697f4b1e}" ma:internalName="TaxCatchAll" ma:showField="CatchAllData" ma:web="915351b3-9d83-48b3-ac22-e3c9aaa21a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8E24E1-0D68-48DA-A645-987BD3EB4D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256CB6-7CC2-4951-B6D4-D49A5657139B}">
  <ds:schemaRefs>
    <ds:schemaRef ds:uri="http://schemas.microsoft.com/office/2006/metadata/properties"/>
    <ds:schemaRef ds:uri="http://schemas.microsoft.com/office/infopath/2007/PartnerControls"/>
    <ds:schemaRef ds:uri="915351b3-9d83-48b3-ac22-e3c9aaa21acc"/>
    <ds:schemaRef ds:uri="90bfa618-64d6-4f98-860f-1bba87795c0a"/>
  </ds:schemaRefs>
</ds:datastoreItem>
</file>

<file path=customXml/itemProps3.xml><?xml version="1.0" encoding="utf-8"?>
<ds:datastoreItem xmlns:ds="http://schemas.openxmlformats.org/officeDocument/2006/customXml" ds:itemID="{57867A1C-3DDC-4CEC-8406-B1C9CE7DFD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bfa618-64d6-4f98-860f-1bba87795c0a"/>
    <ds:schemaRef ds:uri="915351b3-9d83-48b3-ac22-e3c9aaa21a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1073</TotalTime>
  <Words>213</Words>
  <Application>Microsoft Macintosh PowerPoint</Application>
  <PresentationFormat>Custom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Oswald Medium</vt:lpstr>
      <vt:lpstr>Montserrat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ppt - Option 1</dc:title>
  <cp:lastModifiedBy>Jack Neton</cp:lastModifiedBy>
  <cp:revision>14</cp:revision>
  <dcterms:created xsi:type="dcterms:W3CDTF">2006-08-16T00:00:00Z</dcterms:created>
  <dcterms:modified xsi:type="dcterms:W3CDTF">2025-11-30T01:35:39Z</dcterms:modified>
  <dc:identifier>DAF3iLWRa4M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0x010100F28C71AAF82D974DA0302843D413C0DC</vt:lpwstr>
  </property>
  <property fmtid="{D5CDD505-2E9C-101B-9397-08002B2CF9AE}" pid="3" name="MediaServiceImageTags">
    <vt:lpwstr/>
  </property>
</Properties>
</file>