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70" r:id="rId7"/>
    <p:sldId id="261" r:id="rId8"/>
    <p:sldId id="272" r:id="rId9"/>
    <p:sldId id="262" r:id="rId10"/>
    <p:sldId id="271" r:id="rId11"/>
    <p:sldId id="263" r:id="rId12"/>
    <p:sldId id="268" r:id="rId13"/>
    <p:sldId id="269" r:id="rId14"/>
  </p:sldIdLst>
  <p:sldSz cx="18288000" cy="10287000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Oswald Medium" panose="000006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81" autoAdjust="0"/>
    <p:restoredTop sz="94589" autoAdjust="0"/>
  </p:normalViewPr>
  <p:slideViewPr>
    <p:cSldViewPr>
      <p:cViewPr>
        <p:scale>
          <a:sx n="52" d="100"/>
          <a:sy n="52" d="100"/>
        </p:scale>
        <p:origin x="22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299693" y="4533196"/>
            <a:ext cx="7688610" cy="1057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Oswald Medium"/>
              </a:rPr>
              <a:t>NYC Flights | Project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9390" y="5590858"/>
            <a:ext cx="4709220" cy="127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Rashmi Kamath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Hayat Kimo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Jack Neton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32073" y="676066"/>
            <a:ext cx="2506349" cy="411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Oswald Medium"/>
              </a:rPr>
              <a:t>DATA 5300 | 25FQ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2718">
            <a:off x="-530090" y="530943"/>
            <a:ext cx="1608968" cy="547514"/>
          </a:xfrm>
          <a:custGeom>
            <a:avLst/>
            <a:gdLst/>
            <a:ahLst/>
            <a:cxnLst/>
            <a:rect l="l" t="t" r="r" b="b"/>
            <a:pathLst>
              <a:path w="1608968" h="547514">
                <a:moveTo>
                  <a:pt x="0" y="0"/>
                </a:moveTo>
                <a:lnTo>
                  <a:pt x="1608967" y="0"/>
                </a:lnTo>
                <a:lnTo>
                  <a:pt x="1608967" y="547514"/>
                </a:lnTo>
                <a:lnTo>
                  <a:pt x="0" y="547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55" r="-114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6432" y="214468"/>
            <a:ext cx="4105911" cy="951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12"/>
              </a:lnSpc>
            </a:pPr>
            <a:r>
              <a:rPr lang="en-US" sz="5580" dirty="0">
                <a:solidFill>
                  <a:srgbClr val="000000"/>
                </a:solidFill>
                <a:latin typeface="Oswald Medium"/>
              </a:rPr>
              <a:t>Agenda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8800" y="3248721"/>
            <a:ext cx="11734800" cy="3951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Introduction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Data methodology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Gain for late flights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Most common destination airports &amp; their gain distribution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Discussion</a:t>
            </a:r>
          </a:p>
          <a:p>
            <a:pPr>
              <a:lnSpc>
                <a:spcPts val="5180"/>
              </a:lnSpc>
            </a:pPr>
            <a:endParaRPr lang="en-US" sz="3700" dirty="0">
              <a:solidFill>
                <a:srgbClr val="000000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07112-90D3-5089-91A9-4FE2859A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E577D8-4E0F-4564-6B1C-D6E2926632CF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A0E1B8F-E052-08A0-90BF-ABF2A0D18995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D8DE2C-7729-BED2-670A-90AB135735ED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3369C40-F3AF-CD0D-A47B-4EF2A7EE223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CD5E3C1-4D78-A5E3-BE83-7A6F1F1C35D3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07A1285-10CA-854C-5E83-7D7D235C535B}"/>
              </a:ext>
            </a:extLst>
          </p:cNvPr>
          <p:cNvSpPr txBox="1"/>
          <p:nvPr/>
        </p:nvSpPr>
        <p:spPr>
          <a:xfrm>
            <a:off x="1600200" y="2369778"/>
            <a:ext cx="13716000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449263" algn="just">
              <a:buFont typeface="Arial" panose="020B0604020202020204" pitchFamily="34" charset="0"/>
              <a:buChar char="•"/>
            </a:pPr>
            <a:r>
              <a:rPr lang="en-US" sz="3600" dirty="0"/>
              <a:t>This analysis focuses on United Airlines flights leaving NYC in 2013.</a:t>
            </a:r>
          </a:p>
          <a:p>
            <a:pPr algn="just"/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Analyze factors contributing to variations in gain.</a:t>
            </a:r>
          </a:p>
          <a:p>
            <a:pPr algn="just"/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Examine how gain differs by flight punctuality, destination airport.</a:t>
            </a:r>
          </a:p>
          <a:p>
            <a:pPr algn="just"/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Aim to improve operational efficiency and passenger experience through data-driven insights.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33BBCD5-B39F-8F02-B806-FF1D38B48B34}"/>
              </a:ext>
            </a:extLst>
          </p:cNvPr>
          <p:cNvSpPr txBox="1"/>
          <p:nvPr/>
        </p:nvSpPr>
        <p:spPr>
          <a:xfrm>
            <a:off x="1932073" y="676066"/>
            <a:ext cx="225892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2746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649DC-70F3-67F5-4CA8-8348703B5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7727E8-259B-ACBE-B78D-BBFF31DBCB65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B016CE3-5FB8-EB06-53A1-AA4DF899BB92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3A3822F-7D10-7DE4-8C6B-0D1AFF851FD5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DC9CE42-FDEA-45A8-E437-1041B6354789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49CC3DD-2F38-56B1-9AEC-C2D26C9CDE40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C6D56FA-452B-DBFE-F155-81BDF1324E3D}"/>
              </a:ext>
            </a:extLst>
          </p:cNvPr>
          <p:cNvSpPr txBox="1"/>
          <p:nvPr/>
        </p:nvSpPr>
        <p:spPr>
          <a:xfrm>
            <a:off x="1752600" y="3193756"/>
            <a:ext cx="13868400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Data was sourced from nycflights13 that contains flight table for NYC airports in 2013.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Focused on United Airlines flights; excluding missing values.</a:t>
            </a:r>
          </a:p>
          <a:p>
            <a:pPr algn="just"/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Created variables:</a:t>
            </a:r>
          </a:p>
          <a:p>
            <a:pPr marL="1200150" lvl="1" indent="-742950" algn="just">
              <a:buFont typeface="Arial" panose="020B0604020202020204" pitchFamily="34" charset="0"/>
              <a:buChar char="•"/>
              <a:tabLst>
                <a:tab pos="1360488" algn="l"/>
              </a:tabLst>
            </a:pPr>
            <a:r>
              <a:rPr lang="en-US" sz="3600" dirty="0"/>
              <a:t> gain= departure delay – arrival delay.</a:t>
            </a:r>
          </a:p>
          <a:p>
            <a:pPr marL="1200150" lvl="1" indent="-742950" algn="just">
              <a:buFont typeface="Arial" panose="020B0604020202020204" pitchFamily="34" charset="0"/>
              <a:buChar char="•"/>
              <a:tabLst>
                <a:tab pos="1360488" algn="l"/>
              </a:tabLst>
            </a:pPr>
            <a:r>
              <a:rPr lang="en-US" sz="3600" dirty="0"/>
              <a:t> late (&gt;0 min delay) and very late (&gt;30 min delay).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D7C654-FA5C-6011-20D9-B7D8D5698424}"/>
              </a:ext>
            </a:extLst>
          </p:cNvPr>
          <p:cNvSpPr txBox="1"/>
          <p:nvPr/>
        </p:nvSpPr>
        <p:spPr>
          <a:xfrm>
            <a:off x="1752600" y="433019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Data</a:t>
            </a:r>
            <a:r>
              <a:rPr lang="en-US" sz="2800" dirty="0">
                <a:solidFill>
                  <a:srgbClr val="FFFFFF"/>
                </a:solidFill>
                <a:latin typeface="Oswald Medium"/>
              </a:rPr>
              <a:t> </a:t>
            </a:r>
            <a:r>
              <a:rPr lang="en-US" sz="3600" dirty="0">
                <a:solidFill>
                  <a:srgbClr val="FFFFFF"/>
                </a:solidFill>
                <a:latin typeface="Oswald Medium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69023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A761F-CE62-5554-9F34-0FD72F81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9403BF-6C25-C8C6-B322-7F94866FC7A2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E676C2D-3226-4D48-1742-FE15F157669A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4CCBCFD-8AEA-4902-794C-E0329873CDDC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D8BBB3D-D830-253B-6AA2-1662D923FD9D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F8DD1DF-6475-4E01-7925-652D6AA85481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ADF46A3-C2E7-1801-0186-8861D27A7771}"/>
              </a:ext>
            </a:extLst>
          </p:cNvPr>
          <p:cNvSpPr txBox="1"/>
          <p:nvPr/>
        </p:nvSpPr>
        <p:spPr>
          <a:xfrm>
            <a:off x="1905000" y="3162300"/>
            <a:ext cx="12622127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Conducted Exploratory Data analysis.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Performed Hypothesis tests.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Calculated Confidence intervals.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E378330-784E-60FA-50A1-A50F22ED448C}"/>
              </a:ext>
            </a:extLst>
          </p:cNvPr>
          <p:cNvSpPr txBox="1"/>
          <p:nvPr/>
        </p:nvSpPr>
        <p:spPr>
          <a:xfrm>
            <a:off x="1752600" y="433019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Data</a:t>
            </a:r>
            <a:r>
              <a:rPr lang="en-US" sz="2800" dirty="0">
                <a:solidFill>
                  <a:srgbClr val="FFFFFF"/>
                </a:solidFill>
                <a:latin typeface="Oswald Medium"/>
              </a:rPr>
              <a:t> </a:t>
            </a:r>
            <a:r>
              <a:rPr lang="en-US" sz="3600" dirty="0">
                <a:solidFill>
                  <a:srgbClr val="FFFFFF"/>
                </a:solidFill>
                <a:latin typeface="Oswald Medium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06732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836A-FA0B-7F35-6085-88BA71D46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5AF1CF-2012-D951-43B1-8236B4BD0264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1B5D63-EEAA-7E00-FCD0-6C71A959DA21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CCB65D-C8E3-1AE5-F922-8DAA7525F08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93819B0-8FEF-DED5-36B1-C5D3802BFA43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0C97F3-38AD-BB06-2C91-A92B004F8BB9}"/>
              </a:ext>
            </a:extLst>
          </p:cNvPr>
          <p:cNvSpPr/>
          <p:nvPr/>
        </p:nvSpPr>
        <p:spPr>
          <a:xfrm>
            <a:off x="-5751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4AD0FB9-C6DF-2778-987F-3B1D14EF543A}"/>
              </a:ext>
            </a:extLst>
          </p:cNvPr>
          <p:cNvSpPr txBox="1"/>
          <p:nvPr/>
        </p:nvSpPr>
        <p:spPr>
          <a:xfrm>
            <a:off x="1932073" y="676066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Gain for late flights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10FC1-D612-187F-1EB4-27B859588B95}"/>
              </a:ext>
            </a:extLst>
          </p:cNvPr>
          <p:cNvSpPr txBox="1"/>
          <p:nvPr/>
        </p:nvSpPr>
        <p:spPr>
          <a:xfrm>
            <a:off x="8763000" y="2661608"/>
            <a:ext cx="9220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9E4BB3-B1AF-A905-B47B-7092A30604F9}"/>
              </a:ext>
            </a:extLst>
          </p:cNvPr>
          <p:cNvSpPr txBox="1"/>
          <p:nvPr/>
        </p:nvSpPr>
        <p:spPr>
          <a:xfrm>
            <a:off x="990600" y="2661608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On-time flights (False) gained </a:t>
            </a:r>
            <a:r>
              <a:rPr lang="en-US" sz="3600" b="1" dirty="0"/>
              <a:t>9.3 minutes </a:t>
            </a:r>
            <a:r>
              <a:rPr lang="en-US" sz="3600" dirty="0"/>
              <a:t>on average.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Late flights (True) gained </a:t>
            </a:r>
            <a:r>
              <a:rPr lang="en-US" sz="3600" b="1" dirty="0"/>
              <a:t>7.5 minutes </a:t>
            </a:r>
            <a:r>
              <a:rPr lang="en-US" sz="3600" dirty="0"/>
              <a:t>on average.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Even late flights recovered some time, but less than on-time flights.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 err="1"/>
              <a:t>Variablility</a:t>
            </a:r>
            <a:r>
              <a:rPr lang="en-US" sz="3600" dirty="0"/>
              <a:t>: late flights showed wider spread in gains.</a:t>
            </a:r>
          </a:p>
        </p:txBody>
      </p:sp>
      <p:pic>
        <p:nvPicPr>
          <p:cNvPr id="17" name="Picture 16" descr="A graph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3EC193FE-0821-4580-1955-959C4BEBC4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4700" y="305694"/>
            <a:ext cx="6972300" cy="4198620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FA47373-A393-A591-242B-77AA7E8FC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773197"/>
              </p:ext>
            </p:extLst>
          </p:nvPr>
        </p:nvGraphicFramePr>
        <p:xfrm>
          <a:off x="11353800" y="5782687"/>
          <a:ext cx="5867400" cy="2685337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2060801685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318698710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686873679"/>
                    </a:ext>
                  </a:extLst>
                </a:gridCol>
              </a:tblGrid>
              <a:tr h="8975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Late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Average Net Gain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N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979549"/>
                  </a:ext>
                </a:extLst>
              </a:tr>
              <a:tr h="8902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False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9.27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30657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1437190"/>
                  </a:ext>
                </a:extLst>
              </a:tr>
              <a:tr h="8975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True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7.54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27125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0488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501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10F7-DFD4-5E95-F420-4927F679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DAA542-16FA-A6BB-F540-102EB28AFCDA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5C06DA6-C0CF-DABA-55CC-AF00FCCC1350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D1CD8A7-4F51-B4F0-D9D4-7E7075C9A1F8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70D0D9D-D155-CA3D-2CCE-DCDB90F8621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4D3DF23-C48C-A253-EA59-33C6FF3A59CF}"/>
              </a:ext>
            </a:extLst>
          </p:cNvPr>
          <p:cNvSpPr/>
          <p:nvPr/>
        </p:nvSpPr>
        <p:spPr>
          <a:xfrm>
            <a:off x="-5751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300FD4A-2353-A2BE-0F0C-908811513DE8}"/>
              </a:ext>
            </a:extLst>
          </p:cNvPr>
          <p:cNvSpPr txBox="1"/>
          <p:nvPr/>
        </p:nvSpPr>
        <p:spPr>
          <a:xfrm>
            <a:off x="1926322" y="437539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Gain for very late flights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C0EA75-1A08-A2F7-3AFE-01B36394D05B}"/>
              </a:ext>
            </a:extLst>
          </p:cNvPr>
          <p:cNvSpPr txBox="1"/>
          <p:nvPr/>
        </p:nvSpPr>
        <p:spPr>
          <a:xfrm>
            <a:off x="8763000" y="2661608"/>
            <a:ext cx="9220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51811B-7859-CB5B-E415-D6ADBE127E48}"/>
              </a:ext>
            </a:extLst>
          </p:cNvPr>
          <p:cNvSpPr txBox="1"/>
          <p:nvPr/>
        </p:nvSpPr>
        <p:spPr>
          <a:xfrm>
            <a:off x="838200" y="2300859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Not </a:t>
            </a:r>
            <a:r>
              <a:rPr lang="en-US" sz="3600" dirty="0" err="1"/>
              <a:t>very_late</a:t>
            </a:r>
            <a:r>
              <a:rPr lang="en-US" sz="3600" dirty="0"/>
              <a:t> flights (False) gained </a:t>
            </a:r>
            <a:r>
              <a:rPr lang="en-US" sz="3600" b="1" dirty="0"/>
              <a:t>8.7 minutes</a:t>
            </a:r>
            <a:r>
              <a:rPr lang="en-US" sz="3600" dirty="0"/>
              <a:t> on average.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Very late flights (True) gained </a:t>
            </a:r>
            <a:r>
              <a:rPr lang="en-US" sz="3600" b="1" dirty="0"/>
              <a:t>6.9 minutes </a:t>
            </a:r>
            <a:r>
              <a:rPr lang="en-US" sz="3600" dirty="0"/>
              <a:t>on average.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Extreme delays are harder to recover = less time gained on average.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Greater inconsistency in recovery among very late flights.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12441358-4DD7-F4B9-8AEA-E7A8EB0D1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7283" y="5992986"/>
            <a:ext cx="23121796" cy="1410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1" name="Picture 20" descr="A graph with a blue and pink rectangle&#10;&#10;AI-generated content may be incorrect.">
            <a:extLst>
              <a:ext uri="{FF2B5EF4-FFF2-40B4-BE49-F238E27FC236}">
                <a16:creationId xmlns:a16="http://schemas.microsoft.com/office/drawing/2014/main" id="{B4951988-76ED-D58A-4CA0-1282542BEC4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6" r="5614"/>
          <a:stretch>
            <a:fillRect/>
          </a:stretch>
        </p:blipFill>
        <p:spPr bwMode="auto">
          <a:xfrm>
            <a:off x="11277283" y="771548"/>
            <a:ext cx="5679106" cy="35236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403839C-C832-7A10-8899-12A41D3D9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625759"/>
              </p:ext>
            </p:extLst>
          </p:nvPr>
        </p:nvGraphicFramePr>
        <p:xfrm>
          <a:off x="11636049" y="5619259"/>
          <a:ext cx="4961574" cy="1784546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653858">
                  <a:extLst>
                    <a:ext uri="{9D8B030D-6E8A-4147-A177-3AD203B41FA5}">
                      <a16:colId xmlns:a16="http://schemas.microsoft.com/office/drawing/2014/main" val="4071728812"/>
                    </a:ext>
                  </a:extLst>
                </a:gridCol>
                <a:gridCol w="1653858">
                  <a:extLst>
                    <a:ext uri="{9D8B030D-6E8A-4147-A177-3AD203B41FA5}">
                      <a16:colId xmlns:a16="http://schemas.microsoft.com/office/drawing/2014/main" val="2137828195"/>
                    </a:ext>
                  </a:extLst>
                </a:gridCol>
                <a:gridCol w="1653858">
                  <a:extLst>
                    <a:ext uri="{9D8B030D-6E8A-4147-A177-3AD203B41FA5}">
                      <a16:colId xmlns:a16="http://schemas.microsoft.com/office/drawing/2014/main" val="928805893"/>
                    </a:ext>
                  </a:extLst>
                </a:gridCol>
              </a:tblGrid>
              <a:tr h="6035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Very_late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Average Net Gain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953316"/>
                  </a:ext>
                </a:extLst>
              </a:tr>
              <a:tr h="57750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False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8.7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50232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280044"/>
                  </a:ext>
                </a:extLst>
              </a:tr>
              <a:tr h="6035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True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6.86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7550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7905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242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49289-C3FD-8892-1747-32608861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0BCDF1-1638-A6C6-B6E4-09638B365B9C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097809-9CA6-16C8-83ED-12DF38B08840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5E4E586-7106-3289-06DE-591DD3CC73CC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BACFB44-C13F-0E61-0791-7A9FA0003B6D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579F774-F504-9B0C-39CC-712F43DBF689}"/>
              </a:ext>
            </a:extLst>
          </p:cNvPr>
          <p:cNvSpPr/>
          <p:nvPr/>
        </p:nvSpPr>
        <p:spPr>
          <a:xfrm>
            <a:off x="-1438" y="-10783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9AE72C6-7637-ACC1-82A4-2C84D084FF10}"/>
              </a:ext>
            </a:extLst>
          </p:cNvPr>
          <p:cNvSpPr txBox="1"/>
          <p:nvPr/>
        </p:nvSpPr>
        <p:spPr>
          <a:xfrm>
            <a:off x="1949658" y="553453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Gain by airport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AFB46-2814-CD08-D438-04029DBA2DE6}"/>
              </a:ext>
            </a:extLst>
          </p:cNvPr>
          <p:cNvSpPr txBox="1"/>
          <p:nvPr/>
        </p:nvSpPr>
        <p:spPr>
          <a:xfrm>
            <a:off x="8915400" y="1752937"/>
            <a:ext cx="84582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Top 5 destinations: DEN, IAH, LAX, ORD, and SFO.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Centered around zero.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Average gain is negative; flight time is not made up in the air.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i="1" dirty="0">
                <a:solidFill>
                  <a:srgbClr val="FF0000"/>
                </a:solidFill>
              </a:rPr>
              <a:t>(Can mention about hypothesis tests or CI)</a:t>
            </a:r>
          </a:p>
          <a:p>
            <a:endParaRPr lang="en-US" sz="3600" dirty="0"/>
          </a:p>
        </p:txBody>
      </p:sp>
      <p:pic>
        <p:nvPicPr>
          <p:cNvPr id="11" name="Picture 10" descr="A graph of a number of blue lines&#10;&#10;AI-generated content may be incorrect.">
            <a:extLst>
              <a:ext uri="{FF2B5EF4-FFF2-40B4-BE49-F238E27FC236}">
                <a16:creationId xmlns:a16="http://schemas.microsoft.com/office/drawing/2014/main" id="{E4C083FD-2276-F558-D8A5-9CBD57398F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006579"/>
            <a:ext cx="6905442" cy="690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21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1B95-E2EF-A622-EA6B-7482352B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25EE21-008F-7366-618A-D21B8C574E19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99523A-AC6A-9D48-59C8-FC82E0FB7005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A787ADB-4657-B4FE-728A-84FEED1261DB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BF1FC34-B0A1-554A-ED5C-C84623244F4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75CBD91-11EF-E671-AA6B-339E53AC1F56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ABFA74-AB70-4311-9B06-30BAA85151F4}"/>
              </a:ext>
            </a:extLst>
          </p:cNvPr>
          <p:cNvSpPr txBox="1"/>
          <p:nvPr/>
        </p:nvSpPr>
        <p:spPr>
          <a:xfrm>
            <a:off x="1932073" y="676066"/>
            <a:ext cx="25063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Discussion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F6D11-9CAB-327B-9DB8-6E88BF4381AB}"/>
              </a:ext>
            </a:extLst>
          </p:cNvPr>
          <p:cNvSpPr txBox="1"/>
          <p:nvPr/>
        </p:nvSpPr>
        <p:spPr>
          <a:xfrm>
            <a:off x="1600200" y="1768240"/>
            <a:ext cx="1287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13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82CF-34F6-C0A5-8A9A-04A1C2B0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3799397"/>
            <a:ext cx="7772400" cy="1362075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10693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5351b3-9d83-48b3-ac22-e3c9aaa21acc" xsi:nil="true"/>
    <lcf76f155ced4ddcb4097134ff3c332f xmlns="90bfa618-64d6-4f98-860f-1bba87795c0a">
      <Terms xmlns="http://schemas.microsoft.com/office/infopath/2007/PartnerControls"/>
    </lcf76f155ced4ddcb4097134ff3c332f>
    <Thumbnail xmlns="90bfa618-64d6-4f98-860f-1bba87795c0a" xsi:nil="true"/>
    <PLEASEDOWNLOADANDSAVEBEFOREUSE xmlns="90bfa618-64d6-4f98-860f-1bba87795c0a" xsi:nil="true"/>
    <Dateandtime xmlns="90bfa618-64d6-4f98-860f-1bba87795c0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C71AAF82D974DA0302843D413C0DC" ma:contentTypeVersion="17" ma:contentTypeDescription="Create a new document." ma:contentTypeScope="" ma:versionID="347cad82de7c514b6601bfa2a37a78a6">
  <xsd:schema xmlns:xsd="http://www.w3.org/2001/XMLSchema" xmlns:xs="http://www.w3.org/2001/XMLSchema" xmlns:p="http://schemas.microsoft.com/office/2006/metadata/properties" xmlns:ns2="90bfa618-64d6-4f98-860f-1bba87795c0a" xmlns:ns3="915351b3-9d83-48b3-ac22-e3c9aaa21acc" targetNamespace="http://schemas.microsoft.com/office/2006/metadata/properties" ma:root="true" ma:fieldsID="aac7e9cee1fa94fd2b28b4f9c7177d59" ns2:_="" ns3:_="">
    <xsd:import namespace="90bfa618-64d6-4f98-860f-1bba87795c0a"/>
    <xsd:import namespace="915351b3-9d83-48b3-ac22-e3c9aaa21a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Thumbnail" minOccurs="0"/>
                <xsd:element ref="ns2:MediaLengthInSeconds" minOccurs="0"/>
                <xsd:element ref="ns2:PLEASEDOWNLOADANDSAVEBEFOREUSE" minOccurs="0"/>
                <xsd:element ref="ns2:Dateand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bfa618-64d6-4f98-860f-1bba87795c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6cb9138-4e5c-4f96-9d77-c435c3151f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Thumbnail" ma:index="21" nillable="true" ma:displayName="Thumbnail" ma:format="Thumbnail" ma:internalName="Thumbnail">
      <xsd:simpleType>
        <xsd:restriction base="dms:Unknown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PLEASEDOWNLOADANDSAVEBEFOREUSE" ma:index="23" nillable="true" ma:displayName="DOWNLOAD FILE BEFORE USE" ma:format="Dropdown" ma:internalName="PLEASEDOWNLOADANDSAVEBEFOREUSE">
      <xsd:simpleType>
        <xsd:restriction base="dms:Text">
          <xsd:maxLength value="255"/>
        </xsd:restriction>
      </xsd:simpleType>
    </xsd:element>
    <xsd:element name="Dateandtime" ma:index="24" nillable="true" ma:displayName="Date and time" ma:format="DateTime" ma:internalName="Dateandtim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351b3-9d83-48b3-ac22-e3c9aaa21a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87a5966-f4e5-4a9a-aa9a-843f697f4b1e}" ma:internalName="TaxCatchAll" ma:showField="CatchAllData" ma:web="915351b3-9d83-48b3-ac22-e3c9aaa21a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8E24E1-0D68-48DA-A645-987BD3EB4D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256CB6-7CC2-4951-B6D4-D49A5657139B}">
  <ds:schemaRefs>
    <ds:schemaRef ds:uri="http://schemas.microsoft.com/office/2006/metadata/properties"/>
    <ds:schemaRef ds:uri="http://schemas.microsoft.com/office/infopath/2007/PartnerControls"/>
    <ds:schemaRef ds:uri="915351b3-9d83-48b3-ac22-e3c9aaa21acc"/>
    <ds:schemaRef ds:uri="90bfa618-64d6-4f98-860f-1bba87795c0a"/>
  </ds:schemaRefs>
</ds:datastoreItem>
</file>

<file path=customXml/itemProps3.xml><?xml version="1.0" encoding="utf-8"?>
<ds:datastoreItem xmlns:ds="http://schemas.openxmlformats.org/officeDocument/2006/customXml" ds:itemID="{57867A1C-3DDC-4CEC-8406-B1C9CE7DFD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bfa618-64d6-4f98-860f-1bba87795c0a"/>
    <ds:schemaRef ds:uri="915351b3-9d83-48b3-ac22-e3c9aaa21a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321</Words>
  <Application>Microsoft Office PowerPoint</Application>
  <PresentationFormat>Custom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Oswald Medium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ppt - Option 1</dc:title>
  <dc:creator>Hayat</dc:creator>
  <cp:lastModifiedBy>Kimo, Hayat A</cp:lastModifiedBy>
  <cp:revision>16</cp:revision>
  <dcterms:created xsi:type="dcterms:W3CDTF">2006-08-16T00:00:00Z</dcterms:created>
  <dcterms:modified xsi:type="dcterms:W3CDTF">2025-11-30T19:38:47Z</dcterms:modified>
  <dc:identifier>DAF3iLWRa4M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0x010100F28C71AAF82D974DA0302843D413C0DC</vt:lpwstr>
  </property>
  <property fmtid="{D5CDD505-2E9C-101B-9397-08002B2CF9AE}" pid="3" name="MediaServiceImageTags">
    <vt:lpwstr/>
  </property>
</Properties>
</file>